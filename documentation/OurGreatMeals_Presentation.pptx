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65" r:id="rId3"/>
    <p:sldId id="257" r:id="rId4"/>
    <p:sldId id="258" r:id="rId5"/>
    <p:sldId id="259" r:id="rId6"/>
    <p:sldId id="260" r:id="rId7"/>
    <p:sldId id="261" r:id="rId8"/>
    <p:sldId id="262" r:id="rId9"/>
    <p:sldId id="263" r:id="rId10"/>
  </p:sldIdLst>
  <p:sldSz cx="1218882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08"/>
    <p:restoredTop sz="94717"/>
  </p:normalViewPr>
  <p:slideViewPr>
    <p:cSldViewPr snapToGrid="0" snapToObjects="1">
      <p:cViewPr>
        <p:scale>
          <a:sx n="100" d="100"/>
          <a:sy n="100" d="100"/>
        </p:scale>
        <p:origin x="464" y="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04886D3-0C66-D84D-A722-49129DF9F367}" type="datetimeFigureOut">
              <a:rPr lang="en-US" smtClean="0"/>
              <a:t>4/15/26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14B7E27-A519-C846-87A3-75DA383F75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040278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14B7E27-A519-C846-87A3-75DA383F75A6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222241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4/15/26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4/15/26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4/15/26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4/15/26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4/15/26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4/15/26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4/15/26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pekascookies.com/" TargetMode="External"/><Relationship Id="rId7" Type="http://schemas.openxmlformats.org/officeDocument/2006/relationships/image" Target="../media/image3.jpg"/><Relationship Id="rId2" Type="http://schemas.openxmlformats.org/officeDocument/2006/relationships/hyperlink" Target="https://bensburrito.com/" TargetMode="Externa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.jpeg"/><Relationship Id="rId5" Type="http://schemas.openxmlformats.org/officeDocument/2006/relationships/image" Target="../media/image1.JPG"/><Relationship Id="rId4" Type="http://schemas.openxmlformats.org/officeDocument/2006/relationships/hyperlink" Target="https://martinpoboril.com/" TargetMode="Externa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.png"/><Relationship Id="rId4" Type="http://schemas.openxmlformats.org/officeDocument/2006/relationships/hyperlink" Target="https://our-great-meals.ddfullstack.cloud/" TargetMode="Externa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1463040"/>
            <a:ext cx="106984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400" b="1" i="0">
                <a:solidFill>
                  <a:srgbClr val="F59E0B"/>
                </a:solidFill>
              </a:rPr>
              <a:t>Our Great Meals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83464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1">
                <a:solidFill>
                  <a:srgbClr val="E6EDF3"/>
                </a:solidFill>
              </a:rPr>
              <a:t>From fridge to fork — AI-powered recipe discovery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0" y="3611880"/>
            <a:ext cx="3959352" cy="254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1188720" y="4023360"/>
            <a:ext cx="2377440" cy="347472"/>
          </a:xfrm>
          <a:prstGeom prst="rect">
            <a:avLst/>
          </a:prstGeom>
          <a:solidFill>
            <a:srgbClr val="161B22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298448" y="4059936"/>
            <a:ext cx="2157984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59E0B"/>
                </a:solidFill>
              </a:rPr>
              <a:t>React Router v7</a:t>
            </a:r>
          </a:p>
        </p:txBody>
      </p:sp>
      <p:sp>
        <p:nvSpPr>
          <p:cNvPr id="7" name="Rectangle 6"/>
          <p:cNvSpPr/>
          <p:nvPr/>
        </p:nvSpPr>
        <p:spPr>
          <a:xfrm>
            <a:off x="2788920" y="4023360"/>
            <a:ext cx="2377440" cy="347472"/>
          </a:xfrm>
          <a:prstGeom prst="rect">
            <a:avLst/>
          </a:prstGeom>
          <a:solidFill>
            <a:srgbClr val="161B22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2898648" y="4059936"/>
            <a:ext cx="2157984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59E0B"/>
                </a:solidFill>
              </a:rPr>
              <a:t>TypeScript</a:t>
            </a:r>
          </a:p>
        </p:txBody>
      </p:sp>
      <p:sp>
        <p:nvSpPr>
          <p:cNvPr id="9" name="Rectangle 8"/>
          <p:cNvSpPr/>
          <p:nvPr/>
        </p:nvSpPr>
        <p:spPr>
          <a:xfrm>
            <a:off x="4389120" y="4023360"/>
            <a:ext cx="2377440" cy="347472"/>
          </a:xfrm>
          <a:prstGeom prst="rect">
            <a:avLst/>
          </a:prstGeom>
          <a:solidFill>
            <a:srgbClr val="161B22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498848" y="4059936"/>
            <a:ext cx="2157984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59E0B"/>
                </a:solidFill>
              </a:rPr>
              <a:t>Express.js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989320" y="4023360"/>
            <a:ext cx="2377440" cy="347472"/>
          </a:xfrm>
          <a:prstGeom prst="rect">
            <a:avLst/>
          </a:prstGeom>
          <a:solidFill>
            <a:srgbClr val="161B22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099048" y="4059936"/>
            <a:ext cx="2157984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59E0B"/>
                </a:solidFill>
              </a:rPr>
              <a:t>PostgreSQL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589520" y="4023360"/>
            <a:ext cx="2377440" cy="347472"/>
          </a:xfrm>
          <a:prstGeom prst="rect">
            <a:avLst/>
          </a:prstGeom>
          <a:solidFill>
            <a:srgbClr val="161B22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699248" y="4059936"/>
            <a:ext cx="2157984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59E0B"/>
                </a:solidFill>
              </a:rPr>
              <a:t>Claude AI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189720" y="4023360"/>
            <a:ext cx="2377440" cy="347472"/>
          </a:xfrm>
          <a:prstGeom prst="rect">
            <a:avLst/>
          </a:prstGeom>
          <a:solidFill>
            <a:srgbClr val="161B22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9299448" y="4059936"/>
            <a:ext cx="2157984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59E0B"/>
                </a:solidFill>
              </a:rPr>
              <a:t>Docker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603504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8B949E"/>
                </a:solidFill>
              </a:rPr>
              <a:t>Full-Stack Portfolio Project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457200" y="960120"/>
            <a:ext cx="11274552" cy="254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29768" y="346939"/>
            <a:ext cx="1127455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3600" b="1" i="0" dirty="0">
                <a:solidFill>
                  <a:srgbClr val="E6EDF3"/>
                </a:solidFill>
              </a:rPr>
              <a:t>Introduction</a:t>
            </a:r>
            <a:endParaRPr sz="3600" b="1" i="0" dirty="0">
              <a:solidFill>
                <a:srgbClr val="E6EDF3"/>
              </a:solidFill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457200" y="1645920"/>
            <a:ext cx="2933700" cy="4114800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72160" y="1783080"/>
            <a:ext cx="230378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400" b="0" i="0" dirty="0">
                <a:solidFill>
                  <a:srgbClr val="E6EDF3"/>
                </a:solidFill>
              </a:rPr>
              <a:t>Ben </a:t>
            </a:r>
            <a:r>
              <a:rPr lang="en-US" sz="2400" b="0" i="0" dirty="0" err="1">
                <a:solidFill>
                  <a:srgbClr val="E6EDF3"/>
                </a:solidFill>
              </a:rPr>
              <a:t>Njus</a:t>
            </a:r>
            <a:endParaRPr sz="2400" b="0" i="0" dirty="0">
              <a:solidFill>
                <a:srgbClr val="E6EDF3"/>
              </a:solidFill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4488180" y="1508227"/>
            <a:ext cx="2933700" cy="4114800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909820" y="1783080"/>
            <a:ext cx="209042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400" b="0" i="0" dirty="0">
                <a:solidFill>
                  <a:srgbClr val="E6EDF3"/>
                </a:solidFill>
              </a:rPr>
              <a:t>Perla Trujillo</a:t>
            </a:r>
            <a:endParaRPr sz="1500" b="0" i="0" dirty="0">
              <a:solidFill>
                <a:srgbClr val="E6EDF3"/>
              </a:solidFill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A5916CC-67A7-978D-BFE5-628FEF811DA4}"/>
              </a:ext>
            </a:extLst>
          </p:cNvPr>
          <p:cNvSpPr/>
          <p:nvPr/>
        </p:nvSpPr>
        <p:spPr>
          <a:xfrm>
            <a:off x="8523605" y="1508227"/>
            <a:ext cx="2933700" cy="4114800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7F5CEE9-5560-FDBF-1625-511848C0C5BD}"/>
              </a:ext>
            </a:extLst>
          </p:cNvPr>
          <p:cNvSpPr txBox="1"/>
          <p:nvPr/>
        </p:nvSpPr>
        <p:spPr>
          <a:xfrm>
            <a:off x="8945245" y="1783080"/>
            <a:ext cx="209042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400" b="0" i="0" dirty="0">
                <a:solidFill>
                  <a:srgbClr val="E6EDF3"/>
                </a:solidFill>
              </a:rPr>
              <a:t>Martin </a:t>
            </a:r>
            <a:r>
              <a:rPr lang="en-US" sz="2400" b="0" i="0" dirty="0" err="1">
                <a:solidFill>
                  <a:srgbClr val="E6EDF3"/>
                </a:solidFill>
              </a:rPr>
              <a:t>Poboril</a:t>
            </a:r>
            <a:endParaRPr sz="2400" b="0" i="0" dirty="0">
              <a:solidFill>
                <a:srgbClr val="E6EDF3"/>
              </a:solidFill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CCF2D49-E5FB-BB79-3193-FA2F64AC4F99}"/>
              </a:ext>
            </a:extLst>
          </p:cNvPr>
          <p:cNvSpPr txBox="1"/>
          <p:nvPr/>
        </p:nvSpPr>
        <p:spPr>
          <a:xfrm>
            <a:off x="772160" y="5050497"/>
            <a:ext cx="2303780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500" b="0" i="0" dirty="0">
                <a:solidFill>
                  <a:schemeClr val="bg1"/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</a:t>
            </a:r>
            <a:r>
              <a:rPr lang="en-US" sz="1500" b="0" i="0" dirty="0" err="1">
                <a:solidFill>
                  <a:schemeClr val="bg1"/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bensburrito.com</a:t>
            </a:r>
            <a:r>
              <a:rPr lang="en-US" sz="1500" b="0" i="0" dirty="0">
                <a:solidFill>
                  <a:schemeClr val="bg1"/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/</a:t>
            </a:r>
            <a:endParaRPr sz="1500" b="0" i="0" dirty="0">
              <a:solidFill>
                <a:schemeClr val="bg1"/>
              </a:solidFill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9A5E388-A002-49E3-B654-C4526FA31670}"/>
              </a:ext>
            </a:extLst>
          </p:cNvPr>
          <p:cNvSpPr txBox="1"/>
          <p:nvPr/>
        </p:nvSpPr>
        <p:spPr>
          <a:xfrm>
            <a:off x="4805362" y="5050497"/>
            <a:ext cx="2303780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500" b="0" i="0" dirty="0">
                <a:solidFill>
                  <a:schemeClr val="bg1"/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</a:t>
            </a:r>
            <a:r>
              <a:rPr lang="en-US" sz="1500" b="0" i="0" dirty="0" err="1">
                <a:solidFill>
                  <a:schemeClr val="bg1"/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pekascookies.com</a:t>
            </a:r>
            <a:r>
              <a:rPr lang="en-US" sz="1500" b="0" i="0" dirty="0">
                <a:solidFill>
                  <a:schemeClr val="bg1"/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/</a:t>
            </a:r>
            <a:endParaRPr sz="1500" b="0" i="0" dirty="0">
              <a:solidFill>
                <a:schemeClr val="bg1"/>
              </a:solidFill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04F3C3A-4504-FB5F-CD77-6983DE802F4C}"/>
              </a:ext>
            </a:extLst>
          </p:cNvPr>
          <p:cNvSpPr txBox="1"/>
          <p:nvPr/>
        </p:nvSpPr>
        <p:spPr>
          <a:xfrm>
            <a:off x="8838565" y="5026608"/>
            <a:ext cx="2303780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500" b="0" i="0" dirty="0">
                <a:solidFill>
                  <a:schemeClr val="bg1"/>
                </a:solidFill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</a:t>
            </a:r>
            <a:r>
              <a:rPr lang="en-US" sz="1500" b="0" i="0" dirty="0" err="1">
                <a:solidFill>
                  <a:schemeClr val="bg1"/>
                </a:solidFill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martinpoboril.com</a:t>
            </a:r>
            <a:r>
              <a:rPr lang="en-US" sz="1500" b="0" i="0" dirty="0">
                <a:solidFill>
                  <a:schemeClr val="bg1"/>
                </a:solidFill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/</a:t>
            </a:r>
            <a:endParaRPr sz="1500" b="0" i="0" dirty="0">
              <a:solidFill>
                <a:schemeClr val="bg1"/>
              </a:solidFill>
            </a:endParaRPr>
          </a:p>
        </p:txBody>
      </p:sp>
      <p:pic>
        <p:nvPicPr>
          <p:cNvPr id="17" name="Picture 16" descr="A person leaning against a pillar&#10;&#10;Description automatically generated">
            <a:extLst>
              <a:ext uri="{FF2B5EF4-FFF2-40B4-BE49-F238E27FC236}">
                <a16:creationId xmlns:a16="http://schemas.microsoft.com/office/drawing/2014/main" id="{73652F58-BEB0-FAD5-FC2F-C927EC8FF70F}"/>
              </a:ext>
            </a:extLst>
          </p:cNvPr>
          <p:cNvPicPr>
            <a:picLocks noChangeAspect="1"/>
          </p:cNvPicPr>
          <p:nvPr/>
        </p:nvPicPr>
        <p:blipFill>
          <a:blip r:embed="rId5">
            <a:alphaModFix amt="85000"/>
          </a:blip>
          <a:stretch>
            <a:fillRect/>
          </a:stretch>
        </p:blipFill>
        <p:spPr>
          <a:xfrm>
            <a:off x="9146016" y="2368509"/>
            <a:ext cx="1688878" cy="2534335"/>
          </a:xfrm>
          <a:prstGeom prst="rect">
            <a:avLst/>
          </a:prstGeom>
        </p:spPr>
      </p:pic>
      <p:pic>
        <p:nvPicPr>
          <p:cNvPr id="19" name="Picture 18" descr="A person leaning against a wall&#10;&#10;Description automatically generated">
            <a:extLst>
              <a:ext uri="{FF2B5EF4-FFF2-40B4-BE49-F238E27FC236}">
                <a16:creationId xmlns:a16="http://schemas.microsoft.com/office/drawing/2014/main" id="{FDF80D32-D436-6D3C-89FC-67FC556F9AF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66414" y="2361831"/>
            <a:ext cx="1715272" cy="2571579"/>
          </a:xfrm>
          <a:prstGeom prst="rect">
            <a:avLst/>
          </a:prstGeom>
        </p:spPr>
      </p:pic>
      <p:pic>
        <p:nvPicPr>
          <p:cNvPr id="21" name="Picture 20" descr="A person holding a pastry bag and a plate&#10;&#10;Description automatically generated">
            <a:extLst>
              <a:ext uri="{FF2B5EF4-FFF2-40B4-BE49-F238E27FC236}">
                <a16:creationId xmlns:a16="http://schemas.microsoft.com/office/drawing/2014/main" id="{1AACBCFF-932D-97B1-8815-A867D082AAFA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822231" y="2432828"/>
            <a:ext cx="2265598" cy="22655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2525575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457200" y="960120"/>
            <a:ext cx="11274552" cy="254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29768" y="346939"/>
            <a:ext cx="11274552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 dirty="0">
                <a:solidFill>
                  <a:srgbClr val="E6EDF3"/>
                </a:solidFill>
              </a:rPr>
              <a:t>The Problem &amp; The Solution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645920"/>
            <a:ext cx="5303520" cy="41148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40080" y="1828800"/>
            <a:ext cx="4937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6B6B"/>
                </a:solidFill>
              </a:rPr>
              <a:t>❌  The Problem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0" y="1645920"/>
            <a:ext cx="5303520" cy="41148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583680" y="1828800"/>
            <a:ext cx="4937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3FB950"/>
                </a:solidFill>
              </a:rPr>
              <a:t>✅  The Solution</a:t>
            </a:r>
          </a:p>
        </p:txBody>
      </p:sp>
      <p:pic>
        <p:nvPicPr>
          <p:cNvPr id="16" name="Picture 15" descr="A green bin full of vegetables&#10;&#10;Description automatically generated">
            <a:extLst>
              <a:ext uri="{FF2B5EF4-FFF2-40B4-BE49-F238E27FC236}">
                <a16:creationId xmlns:a16="http://schemas.microsoft.com/office/drawing/2014/main" id="{AE1AB65E-972D-83DD-E582-EA245336524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8493" y="2538730"/>
            <a:ext cx="4080933" cy="3060700"/>
          </a:xfrm>
          <a:prstGeom prst="rect">
            <a:avLst/>
          </a:prstGeom>
        </p:spPr>
      </p:pic>
      <p:pic>
        <p:nvPicPr>
          <p:cNvPr id="20" name="Picture 19" descr="A bowl of food on a table&#10;&#10;Description automatically generated">
            <a:hlinkClick r:id="rId4"/>
            <a:extLst>
              <a:ext uri="{FF2B5EF4-FFF2-40B4-BE49-F238E27FC236}">
                <a16:creationId xmlns:a16="http://schemas.microsoft.com/office/drawing/2014/main" id="{27737245-71AB-78C0-1636-A5E99BC95BF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42860" y="2659380"/>
            <a:ext cx="2819400" cy="28194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457200" y="960120"/>
            <a:ext cx="11274552" cy="254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594360"/>
            <a:ext cx="11274552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E6EDF3"/>
                </a:solidFill>
              </a:rPr>
              <a:t>Upload &amp; Scan Your Fridge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645920"/>
            <a:ext cx="6858000" cy="4389120"/>
          </a:xfrm>
          <a:prstGeom prst="rect">
            <a:avLst/>
          </a:prstGeom>
          <a:solidFill>
            <a:srgbClr val="161B22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57200" y="3291840"/>
            <a:ext cx="6858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8B949E"/>
                </a:solidFill>
              </a:rPr>
              <a:t>[ Screenshot: Home page
with drag-and-drop upload ]</a:t>
            </a:r>
          </a:p>
        </p:txBody>
      </p:sp>
      <p:sp>
        <p:nvSpPr>
          <p:cNvPr id="7" name="Rectangle 6"/>
          <p:cNvSpPr/>
          <p:nvPr/>
        </p:nvSpPr>
        <p:spPr>
          <a:xfrm>
            <a:off x="7589520" y="1645920"/>
            <a:ext cx="4114800" cy="4389120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772400" y="1828800"/>
            <a:ext cx="374903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59E0B"/>
                </a:solidFill>
              </a:rPr>
              <a:t>How it works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0" y="2331720"/>
            <a:ext cx="320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59E0B"/>
                </a:solidFill>
              </a:rPr>
              <a:t>1.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138160" y="2331720"/>
            <a:ext cx="3383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E6EDF3"/>
                </a:solidFill>
              </a:rPr>
              <a:t>User uploads a photo (JPEG/PNG/WebP, max 5 MB)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0" y="2862072"/>
            <a:ext cx="320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59E0B"/>
                </a:solidFill>
              </a:rPr>
              <a:t>2.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38160" y="2862072"/>
            <a:ext cx="3383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E6EDF3"/>
                </a:solidFill>
              </a:rPr>
              <a:t>File saved to server via Remix file-storage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0" y="3392424"/>
            <a:ext cx="320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59E0B"/>
                </a:solidFill>
              </a:rPr>
              <a:t>3.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38160" y="3392424"/>
            <a:ext cx="3383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E6EDF3"/>
                </a:solidFill>
              </a:rPr>
              <a:t>Image converted to Base64 in the SSR loader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0" y="3922776"/>
            <a:ext cx="320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59E0B"/>
                </a:solidFill>
              </a:rPr>
              <a:t>4.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138160" y="3922776"/>
            <a:ext cx="3383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E6EDF3"/>
                </a:solidFill>
              </a:rPr>
              <a:t>Sent to Claude Haiku Vision API with a JSON prompt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0" y="4453128"/>
            <a:ext cx="320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59E0B"/>
                </a:solidFill>
              </a:rPr>
              <a:t>5.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138160" y="4453128"/>
            <a:ext cx="3383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E6EDF3"/>
                </a:solidFill>
              </a:rPr>
              <a:t>Returns a JSON array of detected ingredients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72400" y="5120640"/>
            <a:ext cx="374903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B949E"/>
                </a:solidFill>
              </a:rPr>
              <a:t>Tech involved: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772400" y="5440680"/>
            <a:ext cx="2377440" cy="347472"/>
          </a:xfrm>
          <a:prstGeom prst="rect">
            <a:avLst/>
          </a:prstGeom>
          <a:solidFill>
            <a:srgbClr val="161B22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7882128" y="5477256"/>
            <a:ext cx="2157984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 dirty="0">
                <a:solidFill>
                  <a:srgbClr val="F59E0B"/>
                </a:solidFill>
              </a:rPr>
              <a:t>Claude Haiku Vision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070848" y="5440680"/>
            <a:ext cx="2377440" cy="347472"/>
          </a:xfrm>
          <a:prstGeom prst="rect">
            <a:avLst/>
          </a:prstGeom>
          <a:solidFill>
            <a:srgbClr val="161B22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9180576" y="5477256"/>
            <a:ext cx="2157984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59E0B"/>
                </a:solidFill>
              </a:rPr>
              <a:t>Base64 encoding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0369296" y="5440680"/>
            <a:ext cx="1261871" cy="347472"/>
          </a:xfrm>
          <a:prstGeom prst="rect">
            <a:avLst/>
          </a:prstGeom>
          <a:solidFill>
            <a:srgbClr val="161B22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10479024" y="5477256"/>
            <a:ext cx="1408176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59E0B"/>
                </a:solidFill>
              </a:rPr>
              <a:t>SSR Loader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56032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59E0B"/>
                </a:solidFill>
              </a:rPr>
              <a:t>Demo  ·  Step 2 of 4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960120"/>
            <a:ext cx="11274552" cy="254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594360"/>
            <a:ext cx="11274552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E6EDF3"/>
                </a:solidFill>
              </a:rPr>
              <a:t>Review &amp; Edit Ingredients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645920"/>
            <a:ext cx="6858000" cy="4389120"/>
          </a:xfrm>
          <a:prstGeom prst="rect">
            <a:avLst/>
          </a:prstGeom>
          <a:solidFill>
            <a:srgbClr val="161B22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57200" y="3291840"/>
            <a:ext cx="6858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8B949E"/>
                </a:solidFill>
              </a:rPr>
              <a:t>[ Screenshot: Ingredient list
with edit / delete controls ]</a:t>
            </a:r>
          </a:p>
        </p:txBody>
      </p:sp>
      <p:sp>
        <p:nvSpPr>
          <p:cNvPr id="7" name="Rectangle 6"/>
          <p:cNvSpPr/>
          <p:nvPr/>
        </p:nvSpPr>
        <p:spPr>
          <a:xfrm>
            <a:off x="7589520" y="1645920"/>
            <a:ext cx="4114800" cy="4389120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772400" y="1828800"/>
            <a:ext cx="374903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59E0B"/>
                </a:solidFill>
              </a:rPr>
              <a:t>How it works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0" y="2331720"/>
            <a:ext cx="320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59E0B"/>
                </a:solidFill>
              </a:rPr>
              <a:t>1.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138160" y="2331720"/>
            <a:ext cx="3383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E6EDF3"/>
                </a:solidFill>
              </a:rPr>
              <a:t>AI-detected ingredients shown as an editable list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0" y="2862072"/>
            <a:ext cx="320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59E0B"/>
                </a:solidFill>
              </a:rPr>
              <a:t>2.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38160" y="2862072"/>
            <a:ext cx="3383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E6EDF3"/>
                </a:solidFill>
              </a:rPr>
              <a:t>User can delete, rename or add ingredients manually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0" y="3392424"/>
            <a:ext cx="320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59E0B"/>
                </a:solidFill>
              </a:rPr>
              <a:t>3.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38160" y="3392424"/>
            <a:ext cx="3383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E6EDF3"/>
                </a:solidFill>
              </a:rPr>
              <a:t>Form powered by React Hook Form + Zod schema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0" y="3922776"/>
            <a:ext cx="320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59E0B"/>
                </a:solidFill>
              </a:rPr>
              <a:t>4.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138160" y="3922776"/>
            <a:ext cx="3383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E6EDF3"/>
                </a:solidFill>
              </a:rPr>
              <a:t>User selects meal type and cuisine preference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0" y="4453128"/>
            <a:ext cx="320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59E0B"/>
                </a:solidFill>
              </a:rPr>
              <a:t>5.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138160" y="4453128"/>
            <a:ext cx="3383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E6EDF3"/>
                </a:solidFill>
              </a:rPr>
              <a:t>Submits to /recipe-generation via URL query params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72400" y="5120640"/>
            <a:ext cx="374903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B949E"/>
                </a:solidFill>
              </a:rPr>
              <a:t>Tech involved: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772400" y="5440680"/>
            <a:ext cx="2377440" cy="347472"/>
          </a:xfrm>
          <a:prstGeom prst="rect">
            <a:avLst/>
          </a:prstGeom>
          <a:solidFill>
            <a:srgbClr val="161B22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7882128" y="5477256"/>
            <a:ext cx="2157984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59E0B"/>
                </a:solidFill>
              </a:rPr>
              <a:t>React Hook Form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070848" y="5440680"/>
            <a:ext cx="2377440" cy="347472"/>
          </a:xfrm>
          <a:prstGeom prst="rect">
            <a:avLst/>
          </a:prstGeom>
          <a:solidFill>
            <a:srgbClr val="161B22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9180576" y="5477256"/>
            <a:ext cx="2157984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59E0B"/>
                </a:solidFill>
              </a:rPr>
              <a:t>Zod v4 validation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0369296" y="5440680"/>
            <a:ext cx="2377440" cy="347472"/>
          </a:xfrm>
          <a:prstGeom prst="rect">
            <a:avLst/>
          </a:prstGeom>
          <a:solidFill>
            <a:srgbClr val="161B22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10479024" y="5477256"/>
            <a:ext cx="2157984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59E0B"/>
                </a:solidFill>
              </a:rPr>
              <a:t>Remix Storage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56032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59E0B"/>
                </a:solidFill>
              </a:rPr>
              <a:t>Demo  ·  Step 3 of 4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960120"/>
            <a:ext cx="11274552" cy="254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594360"/>
            <a:ext cx="11274552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E6EDF3"/>
                </a:solidFill>
              </a:rPr>
              <a:t>AI-Powered Recipe Suggestions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645920"/>
            <a:ext cx="6858000" cy="4389120"/>
          </a:xfrm>
          <a:prstGeom prst="rect">
            <a:avLst/>
          </a:prstGeom>
          <a:solidFill>
            <a:srgbClr val="161B22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57200" y="3291840"/>
            <a:ext cx="6858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8B949E"/>
                </a:solidFill>
              </a:rPr>
              <a:t>[ Screenshot: Recipe suggestions page
showing 3 AI cards + DB results ]</a:t>
            </a:r>
          </a:p>
        </p:txBody>
      </p:sp>
      <p:sp>
        <p:nvSpPr>
          <p:cNvPr id="7" name="Rectangle 6"/>
          <p:cNvSpPr/>
          <p:nvPr/>
        </p:nvSpPr>
        <p:spPr>
          <a:xfrm>
            <a:off x="7589520" y="1645920"/>
            <a:ext cx="4114800" cy="4389120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772400" y="1828800"/>
            <a:ext cx="374903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59E0B"/>
                </a:solidFill>
              </a:rPr>
              <a:t>How it works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0" y="2331720"/>
            <a:ext cx="320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59E0B"/>
                </a:solidFill>
              </a:rPr>
              <a:t>1.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138160" y="2331720"/>
            <a:ext cx="3383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E6EDF3"/>
                </a:solidFill>
              </a:rPr>
              <a:t>Loader fires two requests in parallel via Promise.all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0" y="2862072"/>
            <a:ext cx="320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59E0B"/>
                </a:solidFill>
              </a:rPr>
              <a:t>2.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38160" y="2862072"/>
            <a:ext cx="3383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E6EDF3"/>
                </a:solidFill>
              </a:rPr>
              <a:t>Claude Haiku generates 3 tailored recipe suggestions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0" y="3392424"/>
            <a:ext cx="320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59E0B"/>
                </a:solidFill>
              </a:rPr>
              <a:t>3.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38160" y="3392424"/>
            <a:ext cx="3383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E6EDF3"/>
                </a:solidFill>
              </a:rPr>
              <a:t>PostgreSQL returns matching recipes from the database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0" y="3922776"/>
            <a:ext cx="320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59E0B"/>
                </a:solidFill>
              </a:rPr>
              <a:t>4.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138160" y="3922776"/>
            <a:ext cx="3383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E6EDF3"/>
                </a:solidFill>
              </a:rPr>
              <a:t>Both results render side-by-side on the same page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0" y="4453128"/>
            <a:ext cx="320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59E0B"/>
                </a:solidFill>
              </a:rPr>
              <a:t>5.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138160" y="4453128"/>
            <a:ext cx="3383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E6EDF3"/>
                </a:solidFill>
              </a:rPr>
              <a:t>User picks a recipe to generate in full detail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72400" y="5120640"/>
            <a:ext cx="374903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B949E"/>
                </a:solidFill>
              </a:rPr>
              <a:t>Tech involved: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772400" y="5440680"/>
            <a:ext cx="2377440" cy="347472"/>
          </a:xfrm>
          <a:prstGeom prst="rect">
            <a:avLst/>
          </a:prstGeom>
          <a:solidFill>
            <a:srgbClr val="161B22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7882128" y="5477256"/>
            <a:ext cx="2157984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59E0B"/>
                </a:solidFill>
              </a:rPr>
              <a:t>Promise.all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070848" y="5440680"/>
            <a:ext cx="2377440" cy="347472"/>
          </a:xfrm>
          <a:prstGeom prst="rect">
            <a:avLst/>
          </a:prstGeom>
          <a:solidFill>
            <a:srgbClr val="161B22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9180576" y="5477256"/>
            <a:ext cx="2157984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59E0B"/>
                </a:solidFill>
              </a:rPr>
              <a:t>PostgreSQL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0369296" y="5440680"/>
            <a:ext cx="2377440" cy="347472"/>
          </a:xfrm>
          <a:prstGeom prst="rect">
            <a:avLst/>
          </a:prstGeom>
          <a:solidFill>
            <a:srgbClr val="161B22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10479024" y="5477256"/>
            <a:ext cx="2157984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59E0B"/>
                </a:solidFill>
              </a:rPr>
              <a:t>React Router v7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56032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59E0B"/>
                </a:solidFill>
              </a:rPr>
              <a:t>Demo  ·  Step 4 of 4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960120"/>
            <a:ext cx="11274552" cy="254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594360"/>
            <a:ext cx="11274552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E6EDF3"/>
                </a:solidFill>
              </a:rPr>
              <a:t>Full Recipe Generation &amp; Save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645920"/>
            <a:ext cx="6858000" cy="4389120"/>
          </a:xfrm>
          <a:prstGeom prst="rect">
            <a:avLst/>
          </a:prstGeom>
          <a:solidFill>
            <a:srgbClr val="161B22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57200" y="3291840"/>
            <a:ext cx="6858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8B949E"/>
                </a:solidFill>
              </a:rPr>
              <a:t>[ Screenshot: Full recipe page with
ingredients, steps &amp; nutrition facts ]</a:t>
            </a:r>
          </a:p>
        </p:txBody>
      </p:sp>
      <p:sp>
        <p:nvSpPr>
          <p:cNvPr id="7" name="Rectangle 6"/>
          <p:cNvSpPr/>
          <p:nvPr/>
        </p:nvSpPr>
        <p:spPr>
          <a:xfrm>
            <a:off x="7589520" y="1645920"/>
            <a:ext cx="4114800" cy="4389120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772400" y="1828800"/>
            <a:ext cx="374903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59E0B"/>
                </a:solidFill>
              </a:rPr>
              <a:t>How it works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0" y="2331720"/>
            <a:ext cx="320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59E0B"/>
                </a:solidFill>
              </a:rPr>
              <a:t>1.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138160" y="2331720"/>
            <a:ext cx="3383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E6EDF3"/>
                </a:solidFill>
              </a:rPr>
              <a:t>Claude generates full recipe JSON (instructions, nutrition)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0" y="2862072"/>
            <a:ext cx="320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59E0B"/>
                </a:solidFill>
              </a:rPr>
              <a:t>2.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38160" y="2862072"/>
            <a:ext cx="3383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E6EDF3"/>
                </a:solidFill>
              </a:rPr>
              <a:t>Zod schema validates every field before DB insert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0" y="3392424"/>
            <a:ext cx="320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59E0B"/>
                </a:solidFill>
              </a:rPr>
              <a:t>3.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38160" y="3392424"/>
            <a:ext cx="3383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E6EDF3"/>
                </a:solidFill>
              </a:rPr>
              <a:t>Save requires login — JWT + Redis session checked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0" y="3922776"/>
            <a:ext cx="320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59E0B"/>
                </a:solidFill>
              </a:rPr>
              <a:t>4.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138160" y="3922776"/>
            <a:ext cx="3383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E6EDF3"/>
                </a:solidFill>
              </a:rPr>
              <a:t>Recipe stored in PostgreSQL via parameterised query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0" y="4453128"/>
            <a:ext cx="320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59E0B"/>
                </a:solidFill>
              </a:rPr>
              <a:t>5.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138160" y="4453128"/>
            <a:ext cx="3383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E6EDF3"/>
                </a:solidFill>
              </a:rPr>
              <a:t>Redirects to the saved recipe's permanent page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72400" y="5120640"/>
            <a:ext cx="374903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B949E"/>
                </a:solidFill>
              </a:rPr>
              <a:t>Tech involved: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772400" y="5440680"/>
            <a:ext cx="2377440" cy="347472"/>
          </a:xfrm>
          <a:prstGeom prst="rect">
            <a:avLst/>
          </a:prstGeom>
          <a:solidFill>
            <a:srgbClr val="161B22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7882128" y="5477256"/>
            <a:ext cx="2157984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59E0B"/>
                </a:solidFill>
              </a:rPr>
              <a:t>Zod validation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070848" y="5440680"/>
            <a:ext cx="2377440" cy="347472"/>
          </a:xfrm>
          <a:prstGeom prst="rect">
            <a:avLst/>
          </a:prstGeom>
          <a:solidFill>
            <a:srgbClr val="161B22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9180576" y="5477256"/>
            <a:ext cx="2157984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59E0B"/>
                </a:solidFill>
              </a:rPr>
              <a:t>JWT + Redis auth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0369296" y="5440680"/>
            <a:ext cx="2377440" cy="347472"/>
          </a:xfrm>
          <a:prstGeom prst="rect">
            <a:avLst/>
          </a:prstGeom>
          <a:solidFill>
            <a:srgbClr val="161B22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10479024" y="5477256"/>
            <a:ext cx="2157984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59E0B"/>
                </a:solidFill>
              </a:rPr>
              <a:t>PostgreSQL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56032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59E0B"/>
                </a:solidFill>
              </a:rPr>
              <a:t>Architecture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960120"/>
            <a:ext cx="11274552" cy="254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594360"/>
            <a:ext cx="11274552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E6EDF3"/>
                </a:solidFill>
              </a:rPr>
              <a:t>Tech Stack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645920"/>
            <a:ext cx="5303520" cy="4480560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40080" y="1828800"/>
            <a:ext cx="4937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59E0B"/>
                </a:solidFill>
              </a:rPr>
              <a:t>Frontend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2286000"/>
            <a:ext cx="36576" cy="347472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22960" y="2331720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E6EDF3"/>
                </a:solidFill>
              </a:rPr>
              <a:t>React Router v7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587752"/>
            <a:ext cx="46634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B949E"/>
                </a:solidFill>
              </a:rPr>
              <a:t>Full-stack SSR framework (loader / action pattern)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2990088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E6EDF3"/>
                </a:solidFill>
              </a:rPr>
              <a:t>TypeScript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3246120"/>
            <a:ext cx="46634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B949E"/>
                </a:solidFill>
              </a:rPr>
              <a:t>End-to-end type safety across routes and models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3648456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E6EDF3"/>
                </a:solidFill>
              </a:rPr>
              <a:t>Tailwind CSS v4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3904488"/>
            <a:ext cx="46634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B949E"/>
                </a:solidFill>
              </a:rPr>
              <a:t>Utility-first styling, mobile-responsive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4306824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E6EDF3"/>
                </a:solidFill>
              </a:rPr>
              <a:t>React Hook Form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4562856"/>
            <a:ext cx="46634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B949E"/>
                </a:solidFill>
              </a:rPr>
              <a:t>Form state with Zod resolver validation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4965192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E6EDF3"/>
                </a:solidFill>
              </a:rPr>
              <a:t>Vite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" y="5221224"/>
            <a:ext cx="46634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B949E"/>
                </a:solidFill>
              </a:rPr>
              <a:t>Fast dev server and production bundler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400800" y="1645920"/>
            <a:ext cx="5303520" cy="4480560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583680" y="1828800"/>
            <a:ext cx="4937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59E0B"/>
                </a:solidFill>
              </a:rPr>
              <a:t>Backend &amp; Infrastructure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583680" y="2286000"/>
            <a:ext cx="36576" cy="347472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766560" y="2331720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E6EDF3"/>
                </a:solidFill>
              </a:rPr>
              <a:t>Express.js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766560" y="2587752"/>
            <a:ext cx="46634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B949E"/>
                </a:solidFill>
              </a:rPr>
              <a:t>REST API with modular route / controller / model pattern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766560" y="2990088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E6EDF3"/>
                </a:solidFill>
              </a:rPr>
              <a:t>PostgreSQL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766560" y="3246120"/>
            <a:ext cx="46634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B949E"/>
                </a:solidFill>
              </a:rPr>
              <a:t>Relational DB — recipes, users, reviews, friends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66560" y="3648456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E6EDF3"/>
                </a:solidFill>
              </a:rPr>
              <a:t>Redis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766560" y="3904488"/>
            <a:ext cx="46634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B949E"/>
                </a:solidFill>
              </a:rPr>
              <a:t>Session store for Express (express-session)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766560" y="4306824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E6EDF3"/>
                </a:solidFill>
              </a:rPr>
              <a:t>Anthropic Claude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766560" y="4562856"/>
            <a:ext cx="46634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B949E"/>
                </a:solidFill>
              </a:rPr>
              <a:t>Vision + text AI — Haiku model for speed &amp; cost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766560" y="4965192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E6EDF3"/>
                </a:solidFill>
              </a:rPr>
              <a:t>Docker / Compose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766560" y="5221224"/>
            <a:ext cx="46634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B949E"/>
                </a:solidFill>
              </a:rPr>
              <a:t>Containerised deployment — all services in one stack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8686800" y="-457200"/>
            <a:ext cx="4114800" cy="4114800"/>
          </a:xfrm>
          <a:prstGeom prst="rect">
            <a:avLst/>
          </a:prstGeom>
          <a:solidFill>
            <a:srgbClr val="2A1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106984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000" b="1" i="0">
                <a:solidFill>
                  <a:srgbClr val="F59E0B"/>
                </a:solidFill>
              </a:rPr>
              <a:t>Thank You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01752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1">
                <a:solidFill>
                  <a:srgbClr val="E6EDF3"/>
                </a:solidFill>
              </a:rPr>
              <a:t>Our Great Meals — AI-powered recipe discovery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0" y="3749039"/>
            <a:ext cx="3959352" cy="254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31520" y="402336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8B949E"/>
                </a:solidFill>
              </a:rPr>
              <a:t>GitHub:  github.com/your-username/our-great-meals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45720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8B949E"/>
                </a:solidFill>
              </a:rPr>
              <a:t>Contact:  your@email.com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539496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E6EDF3"/>
                </a:solidFill>
              </a:rPr>
              <a:t>Questions?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316</TotalTime>
  <Words>544</Words>
  <Application>Microsoft Macintosh PowerPoint</Application>
  <PresentationFormat>Custom</PresentationFormat>
  <Paragraphs>120</Paragraphs>
  <Slides>9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/>
  <cp:keywords/>
  <dc:description>generated using python-pptx</dc:description>
  <cp:lastModifiedBy>Roman Kozumplik</cp:lastModifiedBy>
  <cp:revision>6</cp:revision>
  <dcterms:created xsi:type="dcterms:W3CDTF">2013-01-27T09:14:16Z</dcterms:created>
  <dcterms:modified xsi:type="dcterms:W3CDTF">2026-04-15T23:05:48Z</dcterms:modified>
  <cp:category/>
</cp:coreProperties>
</file>